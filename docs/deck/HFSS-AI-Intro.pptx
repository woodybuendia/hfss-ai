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66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开场：这是一次内部介绍，只讲它解决什么问题、做到什么程度，不展开实现。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痛点：真正吃掉时间的不是求解本身，而是建模、收结果、比对指标、交接这些重复劳动。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定位：不是又一个仿真界面，而是给 HFSS 配一个能自己把活干完的助手；人只管定目标和验收。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立场：我们没有把 HFSS 封成固定按钮。它会用界面上的功能，也会自己写脚本补上界面没有的功能——这是和「加个助手」最大的区别。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入口：人从网页进来看模型和曲线；AI 从 DSH 接入，能带着任务长时间自主探索。同一套任务、同一套结果。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工作台：一屏三块——左边器件与状态，中间模型/曲线/指标，右边和 AI 的对话。截图是真实任务。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设计中心：一个器件就是一个设计对象，各自有模型、算例、趋势；换结构不会把上一版的经验丢掉。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新建项目：目标、频段、指标、约束写清楚，勾上「创建后立即让 AI 开始」，它自己建模、迭代、交付工程文件。这是这套东西最直接的价值。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连接：向上六种 AI 后端（DSH/Claude Code/CLI/Anthropic/OpenAI 兼容/收件箱），向下 worker 远程或本机驱动 AEDT。换模型换机器，任务和口径都不动。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两个真实任务：一个已交付，一个还在磨。对照着讲，比只讲成功案例更有说服力。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案例一：Ku 波段同轴—波导转换，带内最差 S11 从 −12.53 dB 做到 −16.77 dB，公差复核通过。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案例二：折叠波导缝隙阵还差 5.25 dB，但取数、指标口径、批量研究这条链路已经跑通。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小结：口径统一、过程可追溯、结论可复核——这三件事让 AI 的结果值得被信任。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现状：把边界说清楚。单器件闭环已经可用，复杂阵列优化、公差与多物理场还在做。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怎么看 AI：不是助手，因为它自己会往下走；不是替代者，因为判断还在人手上；是放大器——同一个设计师能推的路线、能验证的假设都变多了。它放大的是判断力，不是替代判断。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收尾：下一个目标不是某一个指标，而是让 AI 在这个框架里更像设计师——自己发现问题、设计实验、判断何时停。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132588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43560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 dirty="0">
                <a:solidFill>
                  <a:srgbClr val="B0502C"/>
                </a:solidFill>
                <a:latin typeface="Noto Sans SC"/>
                <a:ea typeface="Noto Sans SC"/>
              </a:rPr>
              <a:t>内 部 介 绍 · 2 0 2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zh-CN" altLang="en-US" sz="4600" spc="100" dirty="0">
                <a:solidFill>
                  <a:srgbClr val="23221F"/>
                </a:solidFill>
                <a:latin typeface="Noto Serif SC"/>
                <a:ea typeface="Noto Serif SC"/>
              </a:rPr>
              <a:t>让</a:t>
            </a:r>
            <a:r>
              <a:rPr lang="en-US" altLang="zh-CN" sz="4600" spc="100" dirty="0">
                <a:solidFill>
                  <a:srgbClr val="23221F"/>
                </a:solidFill>
                <a:latin typeface="Noto Serif SC"/>
                <a:ea typeface="Noto Serif SC"/>
              </a:rPr>
              <a:t>AI</a:t>
            </a:r>
            <a:r>
              <a:rPr lang="zh-CN" altLang="en-US" sz="4600" spc="100" dirty="0">
                <a:solidFill>
                  <a:srgbClr val="23221F"/>
                </a:solidFill>
                <a:latin typeface="Noto Serif SC"/>
                <a:ea typeface="Noto Serif SC"/>
              </a:rPr>
              <a:t>驱动</a:t>
            </a:r>
            <a:r>
              <a:rPr sz="4600" b="0" spc="100" dirty="0">
                <a:solidFill>
                  <a:srgbClr val="23221F"/>
                </a:solidFill>
                <a:latin typeface="Noto Serif SC"/>
                <a:ea typeface="Noto Serif SC"/>
              </a:rPr>
              <a:t>HFSS </a:t>
            </a:r>
            <a:endParaRPr lang="en-US" altLang="zh-CN" sz="4600" b="0" spc="100" dirty="0">
              <a:solidFill>
                <a:srgbClr val="23221F"/>
              </a:solidFill>
              <a:latin typeface="Noto Serif SC"/>
              <a:ea typeface="Noto Serif SC"/>
            </a:endParaRP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lang="zh-CN" altLang="en-US" sz="2000" b="0" dirty="0">
                <a:solidFill>
                  <a:srgbClr val="5D7268"/>
                </a:solidFill>
                <a:latin typeface="Noto Serif SC"/>
                <a:ea typeface="Noto Serif SC"/>
              </a:rPr>
              <a:t>一个以任务为中心的电磁设计台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931920"/>
            <a:ext cx="1920240" cy="0"/>
          </a:xfrm>
          <a:prstGeom prst="line">
            <a:avLst/>
          </a:prstGeom>
          <a:ln w="11430">
            <a:solidFill>
              <a:srgbClr val="232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4151376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lang="zh-CN" altLang="en-US" sz="1250" dirty="0">
                <a:solidFill>
                  <a:srgbClr val="7A756B"/>
                </a:solidFill>
                <a:latin typeface="Noto Sans SC"/>
                <a:ea typeface="Noto Sans SC"/>
              </a:rPr>
              <a:t>超越</a:t>
            </a:r>
            <a:r>
              <a:rPr lang="en-US" altLang="zh-CN" sz="1250" dirty="0">
                <a:solidFill>
                  <a:srgbClr val="7A756B"/>
                </a:solidFill>
                <a:latin typeface="Noto Sans SC"/>
                <a:ea typeface="Noto Sans SC"/>
              </a:rPr>
              <a:t>MCP</a:t>
            </a:r>
            <a:r>
              <a:rPr lang="zh-CN" altLang="en-US" sz="1250" dirty="0">
                <a:solidFill>
                  <a:srgbClr val="7A756B"/>
                </a:solidFill>
                <a:latin typeface="Noto Sans SC"/>
                <a:ea typeface="Noto Sans SC"/>
              </a:rPr>
              <a:t>和</a:t>
            </a:r>
            <a:r>
              <a:rPr lang="en-US" altLang="zh-CN" sz="1250" dirty="0">
                <a:solidFill>
                  <a:srgbClr val="7A756B"/>
                </a:solidFill>
                <a:latin typeface="Noto Sans SC"/>
                <a:ea typeface="Noto Sans SC"/>
              </a:rPr>
              <a:t>Skill</a:t>
            </a:r>
            <a:endParaRPr lang="en-US" sz="1250" dirty="0">
              <a:solidFill>
                <a:srgbClr val="7A756B"/>
              </a:solidFill>
              <a:latin typeface="Noto Sans SC"/>
              <a:ea typeface="Noto Sans SC"/>
            </a:endParaRPr>
          </a:p>
          <a:p>
            <a:pPr algn="l">
              <a:lnSpc>
                <a:spcPct val="190000"/>
              </a:lnSpc>
            </a:pPr>
            <a:r>
              <a:rPr lang="zh-CN" altLang="en-US" sz="1250" b="0" dirty="0">
                <a:solidFill>
                  <a:srgbClr val="7A756B"/>
                </a:solidFill>
                <a:latin typeface="Noto Sans SC"/>
                <a:ea typeface="Noto Sans SC"/>
              </a:rPr>
              <a:t>理解任务、理解模型、自主设计、自主优化</a:t>
            </a:r>
            <a:endParaRPr lang="en-US" altLang="zh-CN" sz="1250" b="0" dirty="0">
              <a:solidFill>
                <a:srgbClr val="7A756B"/>
              </a:solidFill>
              <a:latin typeface="Noto Sans SC"/>
              <a:ea typeface="Noto Sans SC"/>
            </a:endParaRPr>
          </a:p>
          <a:p>
            <a:pPr algn="l">
              <a:lnSpc>
                <a:spcPct val="190000"/>
              </a:lnSpc>
            </a:pPr>
            <a:r>
              <a:rPr lang="zh-CN" altLang="en-US" sz="1250" b="0" dirty="0">
                <a:solidFill>
                  <a:srgbClr val="7A756B"/>
                </a:solidFill>
                <a:latin typeface="Noto Sans SC"/>
                <a:ea typeface="Noto Sans SC"/>
              </a:rPr>
              <a:t>告别遗忘和迷失</a:t>
            </a:r>
            <a:endParaRPr lang="en-US" altLang="zh-CN" sz="1250" b="0" dirty="0">
              <a:solidFill>
                <a:srgbClr val="7A756B"/>
              </a:solidFill>
              <a:latin typeface="Noto Sans SC"/>
              <a:ea typeface="Noto Sans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588873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b="0" dirty="0" err="1">
                <a:solidFill>
                  <a:srgbClr val="A59F94"/>
                </a:solidFill>
                <a:latin typeface="Noto Sans SC"/>
                <a:ea typeface="Noto Sans SC"/>
              </a:rPr>
              <a:t>两个真实任务</a:t>
            </a:r>
            <a:r>
              <a:rPr sz="900" b="0" dirty="0">
                <a:solidFill>
                  <a:srgbClr val="A59F94"/>
                </a:solidFill>
                <a:latin typeface="Noto Sans SC"/>
                <a:ea typeface="Noto Sans SC"/>
              </a:rPr>
              <a:t> ／ Ku </a:t>
            </a:r>
            <a:r>
              <a:rPr sz="900" b="0" dirty="0" err="1">
                <a:solidFill>
                  <a:srgbClr val="A59F94"/>
                </a:solidFill>
                <a:latin typeface="Noto Sans SC"/>
                <a:ea typeface="Noto Sans SC"/>
              </a:rPr>
              <a:t>波段同轴</a:t>
            </a:r>
            <a:r>
              <a:rPr sz="900" b="0" dirty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  <a:r>
              <a:rPr sz="900" b="0" dirty="0" err="1">
                <a:solidFill>
                  <a:srgbClr val="A59F94"/>
                </a:solidFill>
                <a:latin typeface="Noto Sans SC"/>
                <a:ea typeface="Noto Sans SC"/>
              </a:rPr>
              <a:t>波导转换</a:t>
            </a:r>
            <a:r>
              <a:rPr sz="900" b="0" dirty="0">
                <a:solidFill>
                  <a:srgbClr val="A59F94"/>
                </a:solidFill>
                <a:latin typeface="Noto Sans SC"/>
                <a:ea typeface="Noto Sans SC"/>
              </a:rPr>
              <a:t> · </a:t>
            </a:r>
            <a:r>
              <a:rPr sz="900" b="0" dirty="0" err="1">
                <a:solidFill>
                  <a:srgbClr val="A59F94"/>
                </a:solidFill>
                <a:latin typeface="Noto Sans SC"/>
                <a:ea typeface="Noto Sans SC"/>
              </a:rPr>
              <a:t>双极化折叠波导缝隙阵</a:t>
            </a:r>
            <a:endParaRPr sz="900" b="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pic>
        <p:nvPicPr>
          <p:cNvPr id="8" name="Picture 7" descr="cover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234440"/>
            <a:ext cx="4572000" cy="4114800"/>
          </a:xfrm>
          <a:prstGeom prst="rect">
            <a:avLst/>
          </a:prstGeom>
        </p:spPr>
      </p:pic>
      <p:sp>
        <p:nvSpPr>
          <p:cNvPr id="9" name="credit"/>
          <p:cNvSpPr txBox="1"/>
          <p:nvPr/>
        </p:nvSpPr>
        <p:spPr>
          <a:xfrm>
            <a:off x="960119" y="6373368"/>
            <a:ext cx="628618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Designed by WoodyBuendia </a:t>
            </a:r>
            <a:r>
              <a:rPr lang="en-US" altLang="zh-CN" sz="850" spc="100" dirty="0">
                <a:solidFill>
                  <a:srgbClr val="A59F94"/>
                </a:solidFill>
                <a:latin typeface="Noto Sans SC"/>
                <a:ea typeface="Noto Sans SC"/>
              </a:rPr>
              <a:t>— —</a:t>
            </a:r>
            <a:r>
              <a:rPr sz="850" spc="100" dirty="0">
                <a:solidFill>
                  <a:srgbClr val="A59F94"/>
                </a:solidFill>
                <a:latin typeface="Noto Sans SC"/>
                <a:ea typeface="Noto Sans SC"/>
              </a:rPr>
              <a:t> woodybuendia@gmail.com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1   ·   起 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真正耗时间的，不是那一次求解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一个</a:t>
            </a:r>
            <a:r>
              <a:rPr lang="zh-CN" altLang="en-US" sz="1150" b="0" dirty="0">
                <a:solidFill>
                  <a:srgbClr val="7A756B"/>
                </a:solidFill>
                <a:latin typeface="Noto Sans SC"/>
                <a:ea typeface="Noto Sans SC"/>
              </a:rPr>
              <a:t>设计</a:t>
            </a: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从想法走到可交付，中间隔着大量不产生新知识的重复劳动</a:t>
            </a:r>
            <a:r>
              <a:rPr sz="115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212848"/>
            <a:ext cx="4724247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3682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40864"/>
            <a:ext cx="422132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建模靠手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7977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改一个尺寸，就要重跑脚本、重设端口、重新剖网格</a:t>
            </a:r>
            <a:r>
              <a:rPr sz="115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41567" y="2212848"/>
            <a:ext cx="4724248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41567" y="23682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340864"/>
            <a:ext cx="422132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结果散落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277977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曲线在截图里，参数在表格里，结论在聊天记录里。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3913632"/>
            <a:ext cx="4724247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41648"/>
            <a:ext cx="422132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判断靠人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算完还得有人一条条比对指标，才知道这次有没有变好。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41567" y="3913632"/>
            <a:ext cx="4724248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41567" y="4069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041648"/>
            <a:ext cx="422132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接手靠问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480560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换个人来做，先花两天搞清楚上次为什么这么改。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5358384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0120" y="5522976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5D7268"/>
                </a:solidFill>
                <a:latin typeface="Noto Serif SC"/>
                <a:ea typeface="Noto Serif SC"/>
              </a:rPr>
              <a:t>所以真正的问题不是「算得慢」，而是「没有人把过程留下来」。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b="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b="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b="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2   ·   做 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把「设计任务」当作最小单位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我们没有再做一个仿真界面，而是给 HFSS 配了一个能自己把活干完的助手。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04288"/>
            <a:ext cx="292089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2615184"/>
            <a:ext cx="2920898" cy="0"/>
          </a:xfrm>
          <a:prstGeom prst="line">
            <a:avLst/>
          </a:prstGeom>
          <a:ln w="11430">
            <a:solidFill>
              <a:srgbClr val="232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2779776"/>
            <a:ext cx="292089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>
                <a:solidFill>
                  <a:srgbClr val="23221F"/>
                </a:solidFill>
                <a:latin typeface="Noto Serif SC"/>
                <a:ea typeface="Noto Serif SC"/>
              </a:rPr>
              <a:t>说清楚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46704"/>
            <a:ext cx="292089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用一段话写下目标、频段、指标和约束。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不需要先想好怎么建模、扫哪些参数。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2226" y="2304288"/>
            <a:ext cx="292089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2226" y="2615184"/>
            <a:ext cx="2920898" cy="0"/>
          </a:xfrm>
          <a:prstGeom prst="line">
            <a:avLst/>
          </a:prstGeom>
          <a:ln w="11430">
            <a:solidFill>
              <a:srgbClr val="232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02226" y="2779776"/>
            <a:ext cx="292089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>
                <a:solidFill>
                  <a:srgbClr val="23221F"/>
                </a:solidFill>
                <a:latin typeface="Noto Serif SC"/>
                <a:ea typeface="Noto Serif SC"/>
              </a:rPr>
              <a:t>交给它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2226" y="3346704"/>
            <a:ext cx="292089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AI 自己决定下一步做什么，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什么时候该停，什么时候该换一条路。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4332" y="2304288"/>
            <a:ext cx="292089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150">
                <a:solidFill>
                  <a:srgbClr val="B0502C"/>
                </a:solidFill>
                <a:latin typeface="Noto Sans SC"/>
                <a:ea typeface="Noto Sans SC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44332" y="2615184"/>
            <a:ext cx="2920899" cy="0"/>
          </a:xfrm>
          <a:prstGeom prst="line">
            <a:avLst/>
          </a:prstGeom>
          <a:ln w="11430">
            <a:solidFill>
              <a:srgbClr val="232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44332" y="2779776"/>
            <a:ext cx="292089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>
                <a:solidFill>
                  <a:srgbClr val="23221F"/>
                </a:solidFill>
                <a:latin typeface="Noto Serif SC"/>
                <a:ea typeface="Noto Serif SC"/>
              </a:rPr>
              <a:t>留下来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4332" y="3346704"/>
            <a:ext cx="292089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每一次参数、每一张曲线、每一个判断，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都挂在这个任务下面，随时能回头看。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5074920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530352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D7268"/>
                </a:solidFill>
                <a:latin typeface="Noto Serif SC"/>
                <a:ea typeface="Noto Serif SC"/>
              </a:rPr>
              <a:t>人只负责两件事：定目标，验收结果。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760720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7A756B"/>
                </a:solidFill>
                <a:latin typeface="Noto Sans SC"/>
                <a:ea typeface="Noto Sans SC"/>
              </a:rPr>
              <a:t>剩下的中间过程，交给平台记录，也交给平台解释。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3   ·   立 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不是点按钮，是像设计师一样用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我们没把 HFSS 封成几个固定按钮。建模、求解、取数都摊开给 AI，它自己写脚本、自己加工具。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212848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3774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23221F"/>
                </a:solidFill>
                <a:latin typeface="Noto Serif SC"/>
                <a:ea typeface="Noto Serif SC"/>
              </a:rPr>
              <a:t>会用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395728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模型、端口、网格、扫参，都由它自己写、自己调通；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不是调用一个写死的流程，而是每一步都有据可依。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3438144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36027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23221F"/>
                </a:solidFill>
                <a:latin typeface="Noto Serif SC"/>
                <a:ea typeface="Noto Serif SC"/>
              </a:rPr>
              <a:t>会加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621024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缺什么功能，就补一个脚本。补完就进脚本库，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下一次任务直接复用——平台的能力是会长的。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4663440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48280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23221F"/>
                </a:solidFill>
                <a:latin typeface="Noto Serif SC"/>
                <a:ea typeface="Noto Serif SC"/>
              </a:rPr>
              <a:t>会想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484632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不限于预设的优化套路。想验证什么假设，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就自己设计实验，自己判断值不值得继续。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14032" y="2212848"/>
            <a:ext cx="0" cy="361188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2359152"/>
            <a:ext cx="384048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900" b="0">
                <a:solidFill>
                  <a:srgbClr val="5D7268"/>
                </a:solidFill>
                <a:latin typeface="Noto Serif SC"/>
                <a:ea typeface="Noto Serif SC"/>
              </a:rPr>
              <a:t>界面上有的，它都能做；</a:t>
            </a:r>
          </a:p>
          <a:p>
            <a:pPr algn="l">
              <a:lnSpc>
                <a:spcPct val="170000"/>
              </a:lnSpc>
            </a:pPr>
            <a:r>
              <a:rPr sz="1900" b="0">
                <a:solidFill>
                  <a:srgbClr val="5D7268"/>
                </a:solidFill>
                <a:latin typeface="Noto Serif SC"/>
                <a:ea typeface="Noto Serif SC"/>
              </a:rPr>
              <a:t>界面上没有的，</a:t>
            </a:r>
          </a:p>
          <a:p>
            <a:pPr algn="l">
              <a:lnSpc>
                <a:spcPct val="170000"/>
              </a:lnSpc>
            </a:pPr>
            <a:r>
              <a:rPr sz="1900" b="0">
                <a:solidFill>
                  <a:srgbClr val="5D7268"/>
                </a:solidFill>
                <a:latin typeface="Noto Serif SC"/>
                <a:ea typeface="Noto Serif SC"/>
              </a:rPr>
              <a:t>它写一个就有了。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6634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这是我们和「给仿真软件加个助手」最大的区别：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边界不在界面上，在模型和物理上。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4   ·   入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人和 AI，各有一个入口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网页是给人看的；DSH 是给 AI 自己长时间干活的。</a:t>
            </a:r>
          </a:p>
        </p:txBody>
      </p:sp>
      <p:pic>
        <p:nvPicPr>
          <p:cNvPr id="6" name="Picture 5" descr="ui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20240"/>
            <a:ext cx="10271455" cy="1653282"/>
          </a:xfrm>
          <a:prstGeom prst="rect">
            <a:avLst/>
          </a:prstGeom>
          <a:ln w="6350">
            <a:solidFill>
              <a:srgbClr val="DED8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60120" y="368325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网页端：任务中心里的两个真实任务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33087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B0502C"/>
                </a:solidFill>
                <a:latin typeface="Noto Sans SC"/>
                <a:ea typeface="Noto Sans SC"/>
              </a:rPr>
              <a:t>人 · 网 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4407408"/>
            <a:ext cx="4632807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4553712"/>
            <a:ext cx="463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5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看模型、看曲线、看 AI 正在做什么。</a:t>
            </a:r>
          </a:p>
          <a:p>
            <a:pPr algn="l">
              <a:lnSpc>
                <a:spcPct val="185000"/>
              </a:lnSpc>
              <a:spcBef>
                <a:spcPts val="0"/>
              </a:spcBef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随时改目标、加约束、叫停，或者接手。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4133087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B0502C"/>
                </a:solidFill>
                <a:latin typeface="Noto Sans SC"/>
                <a:ea typeface="Noto Sans SC"/>
              </a:rPr>
              <a:t>A I · D S 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07327" y="4407408"/>
            <a:ext cx="4632808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07327" y="4553712"/>
            <a:ext cx="463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5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通过 DeepSeek Harness 接入，把任务交给一个能长时间</a:t>
            </a:r>
          </a:p>
          <a:p>
            <a:pPr algn="l">
              <a:lnSpc>
                <a:spcPct val="185000"/>
              </a:lnSpc>
              <a:spcBef>
                <a:spcPts val="0"/>
              </a:spcBef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自主探索的智能体：它自己排计划、自己判断下一步。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41567" y="4133087"/>
            <a:ext cx="0" cy="1325881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5687568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A59F94"/>
                </a:solidFill>
                <a:latin typeface="Noto Sans SC"/>
                <a:ea typeface="Noto Sans SC"/>
              </a:rPr>
              <a:t>同一套任务、同一套结果——人看的是结论，AI 走的是全程。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5   ·   工 作 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一屏之内：找到、看到、问到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左边是</a:t>
            </a:r>
            <a:r>
              <a:rPr lang="zh-CN" altLang="en-US" sz="1150" b="0" dirty="0">
                <a:solidFill>
                  <a:srgbClr val="7A756B"/>
                </a:solidFill>
                <a:latin typeface="Noto Sans SC"/>
                <a:ea typeface="Noto Sans SC"/>
              </a:rPr>
              <a:t>设计</a:t>
            </a: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和它的状态，中间是模型、曲线和指标，右边是和一个会动手的</a:t>
            </a:r>
            <a:r>
              <a:rPr sz="1150" b="0" dirty="0">
                <a:solidFill>
                  <a:srgbClr val="7A756B"/>
                </a:solidFill>
                <a:latin typeface="Noto Sans SC"/>
                <a:ea typeface="Noto Sans SC"/>
              </a:rPr>
              <a:t> AI </a:t>
            </a:r>
            <a:r>
              <a:rPr sz="1150" b="0" dirty="0" err="1">
                <a:solidFill>
                  <a:srgbClr val="7A756B"/>
                </a:solidFill>
                <a:latin typeface="Noto Sans SC"/>
                <a:ea typeface="Noto Sans SC"/>
              </a:rPr>
              <a:t>的对话</a:t>
            </a:r>
            <a:r>
              <a:rPr sz="115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619963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 dirty="0" err="1">
                <a:solidFill>
                  <a:srgbClr val="7A756B"/>
                </a:solidFill>
                <a:latin typeface="Noto Sans SC"/>
                <a:ea typeface="Noto Sans SC"/>
              </a:rPr>
              <a:t>真实截图</a:t>
            </a:r>
            <a:r>
              <a:rPr sz="900" b="0" dirty="0">
                <a:solidFill>
                  <a:srgbClr val="7A756B"/>
                </a:solidFill>
                <a:latin typeface="Noto Sans SC"/>
                <a:ea typeface="Noto Sans SC"/>
              </a:rPr>
              <a:t>：</a:t>
            </a:r>
            <a:r>
              <a:rPr lang="zh-CN" altLang="en-US" sz="900" b="0" dirty="0">
                <a:solidFill>
                  <a:srgbClr val="7A756B"/>
                </a:solidFill>
                <a:latin typeface="Noto Sans SC"/>
                <a:ea typeface="Noto Sans SC"/>
              </a:rPr>
              <a:t>波导同轴转换</a:t>
            </a:r>
            <a:r>
              <a:rPr sz="900" b="0" dirty="0" err="1">
                <a:solidFill>
                  <a:srgbClr val="7A756B"/>
                </a:solidFill>
                <a:latin typeface="Noto Sans SC"/>
                <a:ea typeface="Noto Sans SC"/>
              </a:rPr>
              <a:t>的任务</a:t>
            </a:r>
            <a:r>
              <a:rPr sz="90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9EA2AB-6FF6-3216-7C81-2E1668131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66" y="1976717"/>
            <a:ext cx="7883047" cy="4120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6   ·   设 计 中 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2700" b="0" spc="60" dirty="0" err="1">
                <a:solidFill>
                  <a:srgbClr val="23221F"/>
                </a:solidFill>
                <a:latin typeface="Noto Serif SC"/>
                <a:ea typeface="Noto Serif SC"/>
              </a:rPr>
              <a:t>一个</a:t>
            </a:r>
            <a:r>
              <a:rPr lang="zh-CN" altLang="en-US" sz="2700" spc="60" dirty="0">
                <a:solidFill>
                  <a:srgbClr val="23221F"/>
                </a:solidFill>
                <a:latin typeface="Noto Serif SC"/>
                <a:ea typeface="Noto Serif SC"/>
              </a:rPr>
              <a:t>设计</a:t>
            </a:r>
            <a:r>
              <a:rPr sz="2700" b="0" spc="60" dirty="0">
                <a:solidFill>
                  <a:srgbClr val="23221F"/>
                </a:solidFill>
                <a:latin typeface="Noto Serif SC"/>
                <a:ea typeface="Noto Serif SC"/>
              </a:rPr>
              <a:t>，</a:t>
            </a:r>
            <a:r>
              <a:rPr sz="2700" b="0" spc="60" dirty="0" err="1">
                <a:solidFill>
                  <a:srgbClr val="23221F"/>
                </a:solidFill>
                <a:latin typeface="Noto Serif SC"/>
                <a:ea typeface="Noto Serif SC"/>
              </a:rPr>
              <a:t>就是一个对象</a:t>
            </a:r>
            <a:endParaRPr sz="2700" b="0" spc="60" dirty="0">
              <a:solidFill>
                <a:srgbClr val="23221F"/>
              </a:solidFill>
              <a:latin typeface="Noto Serif SC"/>
              <a:ea typeface="Noto Serif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每种结构形式单独成册：自己的模型、自己的算例、自己的趋势。换结构是换一页，不是重开一个软件。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384274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 dirty="0" err="1">
                <a:solidFill>
                  <a:srgbClr val="7A756B"/>
                </a:solidFill>
                <a:latin typeface="Noto Sans SC"/>
                <a:ea typeface="Noto Sans SC"/>
              </a:rPr>
              <a:t>设计对象页：左边是全部设计，中间是它的模型，右边是算例曲线</a:t>
            </a:r>
            <a:r>
              <a:rPr sz="90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18120" y="1993392"/>
            <a:ext cx="3410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818120" y="21214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450592"/>
            <a:ext cx="34107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一个设计 = 一套参数化几何 + 它的端口、网格、求解设置。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3163824"/>
            <a:ext cx="3410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8120" y="3291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算例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621024"/>
            <a:ext cx="34107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同一条曲线的口径一致，不同方案才叠得起来、比得下去。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8120" y="4334256"/>
            <a:ext cx="3410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18120" y="4462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791456"/>
            <a:ext cx="34107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每一次探索都留痕，最好的一版自动被标出来。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5669280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20" y="5797296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A59F94"/>
                </a:solidFill>
                <a:latin typeface="Noto Sans SC"/>
                <a:ea typeface="Noto Sans SC"/>
              </a:rPr>
              <a:t>一个任务只属于一个设计对象；一个设计对象，可以有很多个任务。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07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14CA4DF-8FE8-6796-B116-A1D98A1C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186" y="1810512"/>
            <a:ext cx="5500500" cy="3517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7   ·   新 建 项 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一句话，交一个工程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目标、频段、指标、约束，四行字。点「创建后立即让 AI 开始」，剩下的它自己走。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0350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 dirty="0" err="1">
                <a:solidFill>
                  <a:srgbClr val="7A756B"/>
                </a:solidFill>
                <a:latin typeface="Noto Sans SC"/>
                <a:ea typeface="Noto Sans SC"/>
              </a:rPr>
              <a:t>新建任务：写一句话，选指标，交给</a:t>
            </a:r>
            <a:r>
              <a:rPr sz="900" b="0" dirty="0">
                <a:solidFill>
                  <a:srgbClr val="7A756B"/>
                </a:solidFill>
                <a:latin typeface="Noto Sans SC"/>
                <a:ea typeface="Noto Sans SC"/>
              </a:rPr>
              <a:t> AI。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32120" y="1847088"/>
            <a:ext cx="5696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32120" y="199339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40">
                <a:solidFill>
                  <a:srgbClr val="B0502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56816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你说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39593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7A756B"/>
                </a:solidFill>
                <a:latin typeface="Noto Sans SC"/>
                <a:ea typeface="Noto Sans SC"/>
              </a:rPr>
              <a:t>一段话：做什么器件、哪个频段、几条指标、什么不能动。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816352"/>
            <a:ext cx="5696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32120" y="296265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40">
                <a:solidFill>
                  <a:srgbClr val="B0502C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92608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它建模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62656"/>
            <a:ext cx="39593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7A756B"/>
                </a:solidFill>
                <a:latin typeface="Noto Sans SC"/>
                <a:ea typeface="Noto Sans SC"/>
              </a:rPr>
              <a:t>参数化几何、端口、网格，自己写、自己调通。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3785616"/>
            <a:ext cx="5696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2120" y="393192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40">
                <a:solidFill>
                  <a:srgbClr val="B0502C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89534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它迭代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31920"/>
            <a:ext cx="39593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7A756B"/>
                </a:solidFill>
                <a:latin typeface="Noto Sans SC"/>
                <a:ea typeface="Noto Sans SC"/>
              </a:rPr>
              <a:t>扫参、判断、换路线；不行就说清楚卡在哪。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4754880"/>
            <a:ext cx="5696712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32120" y="490118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40">
                <a:solidFill>
                  <a:srgbClr val="B0502C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86460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23221F"/>
                </a:solidFill>
                <a:latin typeface="Noto Serif SC"/>
                <a:ea typeface="Noto Serif SC"/>
              </a:rPr>
              <a:t>它交付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901184"/>
            <a:ext cx="39593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7A756B"/>
                </a:solidFill>
                <a:latin typeface="Noto Sans SC"/>
                <a:ea typeface="Noto Sans SC"/>
              </a:rPr>
              <a:t>.aedt 工程文件、曲线、结论，一起留在任务文件夹里。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5760720"/>
            <a:ext cx="56967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D7268"/>
                </a:solidFill>
                <a:latin typeface="Noto Serif SC"/>
                <a:ea typeface="Noto Serif SC"/>
              </a:rPr>
              <a:t>你只写目标，不写步骤。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08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3C683DF-A758-12D9-77E3-FA2B4AF1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9" r="1675" b="1162"/>
          <a:stretch>
            <a:fillRect/>
          </a:stretch>
        </p:blipFill>
        <p:spPr>
          <a:xfrm>
            <a:off x="1101140" y="1819656"/>
            <a:ext cx="3301759" cy="4241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8   ·   连 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AI 换一个，平台不用动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向上接模型，向下接 HFSS。两头都是可替换的接口，任务和口径留在中间。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B0502C"/>
                </a:solidFill>
                <a:latin typeface="Noto Sans SC"/>
                <a:ea typeface="Noto Sans SC"/>
              </a:rPr>
              <a:t>向 上 ·  A I  后 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2212848"/>
            <a:ext cx="4632807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2340864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DSH · ACP（默认）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长期存活的完整会话：记忆、子代理、文件与 shell。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Claude Code / OpenCode / Codex / Gemini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命令行 Agent，读同一份 CLAUDE.md，跑同一个 hfss.py。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9935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Anthropic / OpenAI 兼容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34255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DeepSeek、通义、Kimi、智谱、本地 Ollama，填 key 即用。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19472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收件箱（手动）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93792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交给任何一个会写脚本的 AI，结果回填即可。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1920240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5D7268"/>
                </a:solidFill>
                <a:latin typeface="Noto Sans SC"/>
                <a:ea typeface="Noto Sans SC"/>
              </a:rPr>
              <a:t>向 下 ·  H F S 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07327" y="2212848"/>
            <a:ext cx="4632808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7327" y="2340864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615184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远端工作站上常驻的 Python 服务，用 PyAEDT 驱动 AEDT。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三种接法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474720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远程 SSH / 本机 / 手动地址，按机器条件选。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4059935"/>
            <a:ext cx="463280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3221F"/>
                </a:solidFill>
                <a:latin typeface="Noto Sans SC"/>
                <a:ea typeface="Noto Sans SC"/>
              </a:rPr>
              <a:t>断线可续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4334255"/>
            <a:ext cx="463280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worker 掉线自动拉起；长任务不从头再来。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41567" y="1920240"/>
            <a:ext cx="0" cy="3730752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" y="5705856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5833872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A59F94"/>
                </a:solidFill>
                <a:latin typeface="Noto Sans SC"/>
                <a:ea typeface="Noto Sans SC"/>
              </a:rPr>
              <a:t>换模型不改任务；换机器也不改任务。任务、指标口径、历史，都在平台这一侧。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0 9   ·   两 个 真 实 任 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一难一易，跑在同一张桌上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这两个都不是演示样例，是正在用的任务。一个已经交付，一个还在磨。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41567" y="2212848"/>
            <a:ext cx="0" cy="324612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212848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spc="160">
                <a:solidFill>
                  <a:srgbClr val="7A756B"/>
                </a:solidFill>
                <a:latin typeface="Noto Sans SC"/>
                <a:ea typeface="Noto Sans SC"/>
              </a:rPr>
              <a:t>案 例  0 1   ·   K u  波 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472424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23221F"/>
                </a:solidFill>
                <a:latin typeface="Noto Serif SC"/>
                <a:ea typeface="Noto Serif SC"/>
              </a:rPr>
              <a:t>同轴—矩形波导转换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4724247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15–17 GHz 全带匹配。同轴从窄壁直接馈入，</a:t>
            </a:r>
          </a:p>
          <a:p>
            <a:pPr algn="l">
              <a:lnSpc>
                <a:spcPct val="180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内部金属做成一条可整体加工的连续链。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13632"/>
            <a:ext cx="4724247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B0502C"/>
                </a:solidFill>
                <a:latin typeface="Noto Serif SC"/>
                <a:ea typeface="Noto Serif SC"/>
              </a:rPr>
              <a:t>−16.77</a:t>
            </a:r>
            <a:r>
              <a:rPr sz="1200" b="0">
                <a:solidFill>
                  <a:srgbClr val="B0502C"/>
                </a:solidFill>
                <a:latin typeface="Noto Sans SC"/>
                <a:ea typeface="Noto Sans SC"/>
              </a:rPr>
              <a:t>   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带内最差 S11 ／ 目标 ≤ −15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spc="200">
                <a:solidFill>
                  <a:srgbClr val="5D7268"/>
                </a:solidFill>
                <a:latin typeface="Noto Sans SC"/>
                <a:ea typeface="Noto Sans SC"/>
              </a:rPr>
              <a:t>已 达 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212848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spc="160">
                <a:solidFill>
                  <a:srgbClr val="7A756B"/>
                </a:solidFill>
                <a:latin typeface="Noto Sans SC"/>
                <a:ea typeface="Noto Sans SC"/>
              </a:rPr>
              <a:t>案 例  0 2   ·   1 6 . 8  G H 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487168"/>
            <a:ext cx="472424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23221F"/>
                </a:solidFill>
                <a:latin typeface="Noto Serif SC"/>
                <a:ea typeface="Noto Serif SC"/>
              </a:rPr>
              <a:t>双极化折叠波导缝隙阵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980944"/>
            <a:ext cx="4724247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水平极化副瓣压不下去。12 条缝的长度与偏置，</a:t>
            </a:r>
          </a:p>
          <a:p>
            <a:pPr algn="l">
              <a:lnSpc>
                <a:spcPct val="180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要在驻波和波束形状不变的前提下一起动。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913632"/>
            <a:ext cx="4724247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B0502C"/>
                </a:solidFill>
                <a:latin typeface="Noto Serif SC"/>
                <a:ea typeface="Noto Serif SC"/>
              </a:rPr>
              <a:t>−19.75</a:t>
            </a:r>
            <a:r>
              <a:rPr sz="1200" b="0">
                <a:solidFill>
                  <a:srgbClr val="B0502C"/>
                </a:solidFill>
                <a:latin typeface="Noto Sans SC"/>
                <a:ea typeface="Noto Sans SC"/>
              </a:rPr>
              <a:t>   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4681728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>
                <a:solidFill>
                  <a:srgbClr val="7A756B"/>
                </a:solidFill>
                <a:latin typeface="Noto Sans SC"/>
                <a:ea typeface="Noto Sans SC"/>
              </a:rPr>
              <a:t>峰值副瓣电平 ／ 目标 ≤ −25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4992624"/>
            <a:ext cx="4724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spc="200">
                <a:solidFill>
                  <a:srgbClr val="A59F94"/>
                </a:solidFill>
                <a:latin typeface="Noto Sans SC"/>
                <a:ea typeface="Noto Sans SC"/>
              </a:rPr>
              <a:t>进 行 中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5614416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" y="5724144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A59F94"/>
                </a:solidFill>
                <a:latin typeface="Noto Sans SC"/>
                <a:ea typeface="Noto Sans SC"/>
              </a:rPr>
              <a:t>同一个平台，两种结局 —— 这比两个成功案例更能说明它现在的位置。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1 0   ·   案 例 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600" b="0" spc="60">
                <a:solidFill>
                  <a:srgbClr val="23221F"/>
                </a:solidFill>
                <a:latin typeface="Noto Serif SC"/>
                <a:ea typeface="Noto Serif SC"/>
              </a:rPr>
              <a:t>同轴—矩形波导转换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从 −12.53 dB 到 −16.77 dB，约 4.2 dB 的提升；±0.05 mm 单变量与 ±0.02 mm 组合公差复核均通过。</a:t>
            </a:r>
          </a:p>
        </p:txBody>
      </p:sp>
      <p:pic>
        <p:nvPicPr>
          <p:cNvPr id="6" name="Picture 5" descr="ku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3392"/>
            <a:ext cx="3276089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01091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HFSS 模型：同轴针—匹配块—八级接触阶梯脊，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整条内部金属可作为一个零件加工。</a:t>
            </a:r>
          </a:p>
        </p:txBody>
      </p:sp>
      <p:pic>
        <p:nvPicPr>
          <p:cNvPr id="8" name="Picture 7" descr="fig_ku_spa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93392"/>
            <a:ext cx="5989320" cy="29946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0" y="5061204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全带 101 个频点，虚线为指标线。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5724144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5852160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S11 带内最差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−16.77 dB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S21 带内最差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−0.09 dB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VSWR 最大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1.34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带宽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15–17 GHz（101 点）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1 1   ·   案 例 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600" b="0" spc="60">
                <a:solidFill>
                  <a:srgbClr val="23221F"/>
                </a:solidFill>
                <a:latin typeface="Noto Serif SC"/>
                <a:ea typeface="Noto Serif SC"/>
              </a:rPr>
              <a:t>双极化折叠波导缝隙阵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目标 −25 dB，当前 −19.75 dB。还差 5.25 dB —— 取数、指标口径和批量研究已经跑通，剩下的是结构本身。</a:t>
            </a:r>
          </a:p>
        </p:txBody>
      </p:sp>
      <p:pic>
        <p:nvPicPr>
          <p:cNvPr id="6" name="Picture 5" descr="folded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3392"/>
            <a:ext cx="390773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48737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HFSS 模型：两条折叠波导并排馈电，每侧 12 条缝隙，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长度与偏置独立可调。</a:t>
            </a:r>
          </a:p>
        </p:txBody>
      </p:sp>
      <p:pic>
        <p:nvPicPr>
          <p:cNvPr id="8" name="Picture 7" descr="fig_folded_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93392"/>
            <a:ext cx="5989320" cy="29946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0" y="5061204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7A756B"/>
                </a:solidFill>
                <a:latin typeface="Noto Sans SC"/>
                <a:ea typeface="Noto Sans SC"/>
              </a:rPr>
              <a:t>水平极化，φ = 0° / 180° 两个切面拼成完整方向图；虚线为目标副瓣电平。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5724144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5852160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峰值副瓣  </a:t>
            </a:r>
            <a:r>
              <a:rPr sz="1100" b="0">
                <a:solidFill>
                  <a:srgbClr val="B0502C"/>
                </a:solidFill>
                <a:latin typeface="Noto Serif SC"/>
                <a:ea typeface="Noto Serif SC"/>
              </a:rPr>
              <a:t>−19.75 dB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VSWR 最大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1.13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S11 带内最差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−24.03 dB</a:t>
            </a:r>
            <a:r>
              <a:rPr sz="1000" b="0">
                <a:solidFill>
                  <a:srgbClr val="7A756B"/>
                </a:solidFill>
                <a:latin typeface="Noto Sans SC"/>
                <a:ea typeface="Noto Sans SC"/>
              </a:rPr>
              <a:t>     ·     目标  </a:t>
            </a:r>
            <a:r>
              <a:rPr sz="1100" b="0">
                <a:solidFill>
                  <a:srgbClr val="23221F"/>
                </a:solidFill>
                <a:latin typeface="Noto Serif SC"/>
                <a:ea typeface="Noto Serif SC"/>
              </a:rPr>
              <a:t>−25 dB（差 5.25 dB）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1 2   ·   小 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这套东西真正解决的，是三件事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不是「AI 会建模了」，而是设计过程本身第一次变得可以被检查。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212848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3957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spc="150">
                <a:solidFill>
                  <a:srgbClr val="B0502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6829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口径统一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95728"/>
            <a:ext cx="69796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指标怎么算、在哪个切面、取哪一段角度，写死在平台里，不随人、不随心情变。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310128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349300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spc="150">
                <a:solidFill>
                  <a:srgbClr val="B0502C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655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过程可追溯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493008"/>
            <a:ext cx="69796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任何一个结论，都能回到那一次求解、那一组参数、那一条约束。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4407408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5902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spc="150">
                <a:solidFill>
                  <a:srgbClr val="B0502C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628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23221F"/>
                </a:solidFill>
                <a:latin typeface="Noto Serif SC"/>
                <a:ea typeface="Noto Serif SC"/>
              </a:rPr>
              <a:t>结论可复核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590288"/>
            <a:ext cx="69796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换一天、换一个人重新跑，拿到的应该是同一个数。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5742432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5870448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A59F94"/>
                </a:solidFill>
                <a:latin typeface="Noto Sans SC"/>
                <a:ea typeface="Noto Sans SC"/>
              </a:rPr>
              <a:t>这三件事做到了，AI 才值得被信任地放进真实的设计流程里。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1 3   ·   现 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它能做什么，还不能做什么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说清楚边界，比说清楚能力更重要。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41567" y="2212848"/>
            <a:ext cx="0" cy="324612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212848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5D7268"/>
                </a:solidFill>
                <a:latin typeface="Noto Sans SC"/>
                <a:ea typeface="Noto Sans SC"/>
              </a:rPr>
              <a:t>已 经 可 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505456"/>
            <a:ext cx="4632807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267004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5176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单个器件的完整闭环：建模、求解、判据、记录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9184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多方案并行比较，自动筛出可行解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5020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3192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方向图、S 参数、驻波等指标的统一定义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7200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长任务断点可续，结果可导出、可复核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212848"/>
            <a:ext cx="46328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spc="200">
                <a:solidFill>
                  <a:srgbClr val="A59F94"/>
                </a:solidFill>
                <a:latin typeface="Noto Sans SC"/>
                <a:ea typeface="Noto Sans SC"/>
              </a:rPr>
              <a:t>还 在 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07327" y="2505456"/>
            <a:ext cx="4632808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07327" y="267004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265176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 dirty="0" err="1">
                <a:solidFill>
                  <a:srgbClr val="7A756B"/>
                </a:solidFill>
                <a:latin typeface="Noto Sans SC"/>
                <a:ea typeface="Noto Sans SC"/>
              </a:rPr>
              <a:t>复杂阵列的</a:t>
            </a:r>
            <a:r>
              <a:rPr lang="zh-CN" altLang="en-US" sz="1100" b="0" dirty="0">
                <a:solidFill>
                  <a:srgbClr val="7A756B"/>
                </a:solidFill>
                <a:latin typeface="Noto Sans SC"/>
                <a:ea typeface="Noto Sans SC"/>
              </a:rPr>
              <a:t>设计和</a:t>
            </a:r>
            <a:r>
              <a:rPr sz="1100" b="0" dirty="0" err="1">
                <a:solidFill>
                  <a:srgbClr val="7A756B"/>
                </a:solidFill>
                <a:latin typeface="Noto Sans SC"/>
                <a:ea typeface="Noto Sans SC"/>
              </a:rPr>
              <a:t>优化</a:t>
            </a:r>
            <a:endParaRPr sz="1100" b="0" dirty="0">
              <a:solidFill>
                <a:srgbClr val="7A756B"/>
              </a:solidFill>
              <a:latin typeface="Noto Sans SC"/>
              <a:ea typeface="Noto Sans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07327" y="331012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7" y="329184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 dirty="0" err="1">
                <a:solidFill>
                  <a:srgbClr val="7A756B"/>
                </a:solidFill>
                <a:latin typeface="Noto Sans SC"/>
                <a:ea typeface="Noto Sans SC"/>
              </a:rPr>
              <a:t>加工公差与</a:t>
            </a:r>
            <a:r>
              <a:rPr lang="zh-CN" altLang="en-US" sz="1100" b="0" dirty="0">
                <a:solidFill>
                  <a:srgbClr val="7A756B"/>
                </a:solidFill>
                <a:latin typeface="Noto Sans SC"/>
                <a:ea typeface="Noto Sans SC"/>
              </a:rPr>
              <a:t>可制造性约束</a:t>
            </a:r>
            <a:endParaRPr sz="1100" b="0" dirty="0">
              <a:solidFill>
                <a:srgbClr val="7A756B"/>
              </a:solidFill>
              <a:latin typeface="Noto Sans SC"/>
              <a:ea typeface="Noto Sans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07327" y="395020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647" y="393192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00" b="0" dirty="0" err="1">
                <a:solidFill>
                  <a:srgbClr val="7A756B"/>
                </a:solidFill>
                <a:latin typeface="Noto Sans SC"/>
                <a:ea typeface="Noto Sans SC"/>
              </a:rPr>
              <a:t>从「一个</a:t>
            </a:r>
            <a:r>
              <a:rPr lang="zh-CN" altLang="en-US" sz="1100" b="0" dirty="0">
                <a:solidFill>
                  <a:srgbClr val="7A756B"/>
                </a:solidFill>
                <a:latin typeface="Noto Sans SC"/>
                <a:ea typeface="Noto Sans SC"/>
              </a:rPr>
              <a:t>设计</a:t>
            </a:r>
            <a:r>
              <a:rPr sz="1100" b="0" dirty="0">
                <a:solidFill>
                  <a:srgbClr val="7A756B"/>
                </a:solidFill>
                <a:latin typeface="Noto Sans SC"/>
                <a:ea typeface="Noto Sans SC"/>
              </a:rPr>
              <a:t>」</a:t>
            </a:r>
            <a:r>
              <a:rPr sz="1100" b="0" dirty="0" err="1">
                <a:solidFill>
                  <a:srgbClr val="7A756B"/>
                </a:solidFill>
                <a:latin typeface="Noto Sans SC"/>
                <a:ea typeface="Noto Sans SC"/>
              </a:rPr>
              <a:t>到「一套产品」的工程化</a:t>
            </a:r>
            <a:endParaRPr sz="1100" b="0" dirty="0">
              <a:solidFill>
                <a:srgbClr val="7A756B"/>
              </a:solidFill>
              <a:latin typeface="Noto Sans SC"/>
              <a:ea typeface="Noto Sans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07327" y="459028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A59F94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4572000"/>
            <a:ext cx="4358487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lang="zh-CN" altLang="en-US" sz="1100" b="0" dirty="0">
                <a:solidFill>
                  <a:srgbClr val="7A756B"/>
                </a:solidFill>
                <a:latin typeface="Noto Sans SC"/>
                <a:ea typeface="Noto Sans SC"/>
              </a:rPr>
              <a:t>多任务并发</a:t>
            </a:r>
            <a:endParaRPr sz="1100" b="0" dirty="0">
              <a:solidFill>
                <a:srgbClr val="7A756B"/>
              </a:solidFill>
              <a:latin typeface="Noto Sans SC"/>
              <a:ea typeface="Noto Sans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60120" y="5577840"/>
            <a:ext cx="10271455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" y="5705856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b="0" dirty="0" err="1">
                <a:solidFill>
                  <a:srgbClr val="A59F94"/>
                </a:solidFill>
                <a:latin typeface="Noto Sans SC"/>
                <a:ea typeface="Noto Sans SC"/>
              </a:rPr>
              <a:t>它不是一个通用仿真软件</a:t>
            </a:r>
            <a:r>
              <a:rPr lang="en-US" altLang="zh-CN" sz="1050" b="0" dirty="0" err="1">
                <a:solidFill>
                  <a:srgbClr val="A59F94"/>
                </a:solidFill>
                <a:latin typeface="Noto Sans SC"/>
                <a:ea typeface="Noto Sans SC"/>
              </a:rPr>
              <a:t>API</a:t>
            </a:r>
            <a:r>
              <a:rPr sz="1050" b="0" dirty="0" err="1">
                <a:solidFill>
                  <a:srgbClr val="A59F94"/>
                </a:solidFill>
                <a:latin typeface="Noto Sans SC"/>
                <a:ea typeface="Noto Sans SC"/>
              </a:rPr>
              <a:t>，而是把</a:t>
            </a:r>
            <a:r>
              <a:rPr sz="1050" b="0" dirty="0">
                <a:solidFill>
                  <a:srgbClr val="A59F94"/>
                </a:solidFill>
                <a:latin typeface="Noto Sans SC"/>
                <a:ea typeface="Noto Sans SC"/>
              </a:rPr>
              <a:t> AI </a:t>
            </a:r>
            <a:r>
              <a:rPr sz="1050" b="0" dirty="0" err="1">
                <a:solidFill>
                  <a:srgbClr val="A59F94"/>
                </a:solidFill>
                <a:latin typeface="Noto Sans SC"/>
                <a:ea typeface="Noto Sans SC"/>
              </a:rPr>
              <a:t>放进真实设计流程的一次实验</a:t>
            </a:r>
            <a:r>
              <a:rPr sz="1050" b="0" dirty="0">
                <a:solidFill>
                  <a:srgbClr val="A59F94"/>
                </a:solidFill>
                <a:latin typeface="Noto Sans SC"/>
                <a:ea typeface="Noto Sans SC"/>
              </a:rPr>
              <a:t>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54864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658368"/>
            <a:ext cx="102714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1 4   ·   怎 么 看 A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2700" b="0" spc="60">
                <a:solidFill>
                  <a:srgbClr val="23221F"/>
                </a:solidFill>
                <a:latin typeface="Noto Serif SC"/>
                <a:ea typeface="Noto Serif SC"/>
              </a:rPr>
              <a:t>助手？替代者？还是放大器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990569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7A756B"/>
                </a:solidFill>
                <a:latin typeface="Noto Sans SC"/>
                <a:ea typeface="Noto Sans SC"/>
              </a:rPr>
              <a:t>三种说法都只对一半。真正的区别是：谁在承担判断。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212848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37744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23221F"/>
                </a:solidFill>
                <a:latin typeface="Noto Serif SC"/>
                <a:ea typeface="Noto Serif SC"/>
              </a:rPr>
              <a:t>不 是 助 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95728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助手等指令，一步一问。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它接住一个目标，就自己往下走。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3438144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36027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23221F"/>
                </a:solidFill>
                <a:latin typeface="Noto Serif SC"/>
                <a:ea typeface="Noto Serif SC"/>
              </a:rPr>
              <a:t>不 是 替 代 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21024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做什么、为什么做、什么算做到位——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这些仍然由人来定。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4663440"/>
            <a:ext cx="5623560" cy="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482803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5D7268"/>
                </a:solidFill>
                <a:latin typeface="Noto Serif SC"/>
                <a:ea typeface="Noto Serif SC"/>
              </a:rPr>
              <a:t>是 放 大 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846320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5000"/>
              </a:lnSpc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一个人能同时推的路线、能验证的假设、</a:t>
            </a:r>
          </a:p>
          <a:p>
            <a:pPr algn="l">
              <a:lnSpc>
                <a:spcPct val="175000"/>
              </a:lnSpc>
              <a:spcBef>
                <a:spcPts val="0"/>
              </a:spcBef>
            </a:pPr>
            <a:r>
              <a:rPr sz="1100" b="0">
                <a:solidFill>
                  <a:srgbClr val="7A756B"/>
                </a:solidFill>
                <a:latin typeface="Noto Sans SC"/>
                <a:ea typeface="Noto Sans SC"/>
              </a:rPr>
              <a:t>能留下的记录，都变多了。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14032" y="2212848"/>
            <a:ext cx="0" cy="3611880"/>
          </a:xfrm>
          <a:prstGeom prst="line">
            <a:avLst/>
          </a:prstGeom>
          <a:ln w="762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2359152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2200" b="0">
                <a:solidFill>
                  <a:srgbClr val="5D7268"/>
                </a:solidFill>
                <a:latin typeface="Noto Serif SC"/>
                <a:ea typeface="Noto Serif SC"/>
              </a:rPr>
              <a:t>它放大的是判断力，</a:t>
            </a:r>
          </a:p>
          <a:p>
            <a:pPr algn="l">
              <a:lnSpc>
                <a:spcPct val="170000"/>
              </a:lnSpc>
            </a:pPr>
            <a:r>
              <a:rPr sz="2200" b="0">
                <a:solidFill>
                  <a:srgbClr val="5D7268"/>
                </a:solidFill>
                <a:latin typeface="Noto Serif SC"/>
                <a:ea typeface="Noto Serif SC"/>
              </a:rPr>
              <a:t>不是替代判断。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133086"/>
            <a:ext cx="3840480" cy="11704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00" b="0" dirty="0" err="1">
                <a:solidFill>
                  <a:srgbClr val="A59F94"/>
                </a:solidFill>
                <a:latin typeface="Noto Sans SC"/>
                <a:ea typeface="Noto Sans SC"/>
              </a:rPr>
              <a:t>机器把可能性铺开</a:t>
            </a:r>
            <a:endParaRPr sz="1000" b="0" dirty="0">
              <a:solidFill>
                <a:srgbClr val="A59F94"/>
              </a:solidFill>
              <a:latin typeface="Noto Sans SC"/>
              <a:ea typeface="Noto Sans SC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lang="zh-CN" altLang="en-US" sz="1000" b="0" dirty="0">
                <a:solidFill>
                  <a:srgbClr val="A59F94"/>
                </a:solidFill>
                <a:latin typeface="Noto Sans SC"/>
                <a:ea typeface="Noto Sans SC"/>
              </a:rPr>
              <a:t>把你的想法告诉</a:t>
            </a:r>
            <a:r>
              <a:rPr lang="en-US" altLang="zh-CN" sz="1000" b="0" dirty="0">
                <a:solidFill>
                  <a:srgbClr val="A59F94"/>
                </a:solidFill>
                <a:latin typeface="Noto Sans SC"/>
                <a:ea typeface="Noto Sans SC"/>
              </a:rPr>
              <a:t>AI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lang="en-US" altLang="zh-CN" sz="1000" dirty="0">
                <a:solidFill>
                  <a:srgbClr val="A59F94"/>
                </a:solidFill>
                <a:latin typeface="Noto Sans SC"/>
                <a:ea typeface="Noto Sans SC"/>
              </a:rPr>
              <a:t>AI</a:t>
            </a:r>
            <a:r>
              <a:rPr lang="zh-CN" altLang="en-US" sz="1000" dirty="0">
                <a:solidFill>
                  <a:srgbClr val="A59F94"/>
                </a:solidFill>
                <a:latin typeface="Noto Sans SC"/>
                <a:ea typeface="Noto Sans SC"/>
              </a:rPr>
              <a:t>来实现</a:t>
            </a:r>
            <a:endParaRPr lang="en-US" altLang="zh-CN" sz="1000" b="0" dirty="0">
              <a:solidFill>
                <a:srgbClr val="A59F94"/>
              </a:solidFill>
              <a:latin typeface="Noto Sans SC"/>
              <a:ea typeface="Noto Sans SC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</a:pPr>
            <a:endParaRPr sz="1000" b="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960120" y="6272784"/>
            <a:ext cx="10271455" cy="0"/>
          </a:xfrm>
          <a:prstGeom prst="line">
            <a:avLst/>
          </a:prstGeom>
          <a:ln w="6350">
            <a:solidFill>
              <a:srgbClr val="DE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63550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lang="zh-CN" altLang="en-US" sz="850" spc="80" dirty="0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lang="en-US" altLang="zh-CN" sz="850" spc="80" dirty="0">
                <a:solidFill>
                  <a:srgbClr val="A59F94"/>
                </a:solidFill>
                <a:latin typeface="Noto Sans SC"/>
                <a:ea typeface="Noto Sans SC"/>
              </a:rPr>
              <a:t>——Designed by WoodyBuendia</a:t>
            </a:r>
            <a:endParaRPr lang="zh-CN" altLang="en-US" sz="850" spc="80" dirty="0">
              <a:solidFill>
                <a:srgbClr val="A59F94"/>
              </a:solidFill>
              <a:latin typeface="Noto Sans SC"/>
              <a:ea typeface="Noto Sans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17175" y="63550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>
                <a:solidFill>
                  <a:srgbClr val="A59F94"/>
                </a:solidFill>
                <a:latin typeface="Noto Sans SC"/>
                <a:ea typeface="Noto Sans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1417320"/>
            <a:ext cx="420624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527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结 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47088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4000" b="0">
                <a:solidFill>
                  <a:srgbClr val="23221F"/>
                </a:solidFill>
                <a:latin typeface="Noto Serif SC"/>
                <a:ea typeface="Noto Serif SC"/>
              </a:rPr>
              <a:t>下一步，从「会用」到「会设计」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2999232"/>
            <a:ext cx="1920240" cy="0"/>
          </a:xfrm>
          <a:prstGeom prst="line">
            <a:avLst/>
          </a:prstGeom>
          <a:ln w="11430">
            <a:solidFill>
              <a:srgbClr val="2322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3236976"/>
            <a:ext cx="75895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0000"/>
              </a:lnSpc>
            </a:pPr>
            <a:r>
              <a:rPr sz="1300" b="0" dirty="0" err="1">
                <a:solidFill>
                  <a:srgbClr val="7A756B"/>
                </a:solidFill>
                <a:latin typeface="Noto Sans SC"/>
                <a:ea typeface="Noto Sans SC"/>
              </a:rPr>
              <a:t>如果它能替你省下</a:t>
            </a:r>
            <a:r>
              <a:rPr lang="zh-CN" altLang="en-US" sz="1300" b="0" dirty="0">
                <a:solidFill>
                  <a:srgbClr val="7A756B"/>
                </a:solidFill>
                <a:latin typeface="Noto Sans SC"/>
                <a:ea typeface="Noto Sans SC"/>
              </a:rPr>
              <a:t>时间</a:t>
            </a:r>
            <a:r>
              <a:rPr sz="1300" b="0" dirty="0">
                <a:solidFill>
                  <a:srgbClr val="7A756B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sz="1300" b="0" dirty="0" err="1">
                <a:solidFill>
                  <a:srgbClr val="7A756B"/>
                </a:solidFill>
                <a:latin typeface="Noto Sans SC"/>
                <a:ea typeface="Noto Sans SC"/>
              </a:rPr>
              <a:t>这件事就值得继续做下去</a:t>
            </a:r>
            <a:r>
              <a:rPr sz="1300" b="0" dirty="0">
                <a:solidFill>
                  <a:srgbClr val="7A756B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891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spc="180">
                <a:solidFill>
                  <a:srgbClr val="B0502C"/>
                </a:solidFill>
                <a:latin typeface="Noto Sans SC"/>
                <a:ea typeface="Noto Sans SC"/>
              </a:rPr>
              <a:t>下 一 个 目 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500" b="0" dirty="0" err="1">
                <a:solidFill>
                  <a:srgbClr val="5D7268"/>
                </a:solidFill>
                <a:latin typeface="Noto Serif SC"/>
                <a:ea typeface="Noto Serif SC"/>
              </a:rPr>
              <a:t>让它在这个框架里走得更远：自己发现问题、自己设计实验</a:t>
            </a:r>
            <a:r>
              <a:rPr lang="zh-CN" altLang="en-US" sz="1500" b="0" dirty="0">
                <a:solidFill>
                  <a:srgbClr val="5D7268"/>
                </a:solidFill>
                <a:latin typeface="Noto Serif SC"/>
                <a:ea typeface="Noto Serif SC"/>
              </a:rPr>
              <a:t>；</a:t>
            </a:r>
            <a:endParaRPr sz="1500" b="0" dirty="0">
              <a:solidFill>
                <a:srgbClr val="5D7268"/>
              </a:solidFill>
              <a:latin typeface="Noto Serif SC"/>
              <a:ea typeface="Noto Serif SC"/>
            </a:endParaRPr>
          </a:p>
          <a:p>
            <a:pPr algn="l">
              <a:lnSpc>
                <a:spcPct val="180000"/>
              </a:lnSpc>
              <a:spcBef>
                <a:spcPts val="0"/>
              </a:spcBef>
            </a:pPr>
            <a:r>
              <a:rPr lang="zh-CN" altLang="en-US" sz="1500" dirty="0">
                <a:solidFill>
                  <a:srgbClr val="5D7268"/>
                </a:solidFill>
                <a:latin typeface="Noto Serif SC"/>
                <a:ea typeface="Noto Serif SC"/>
              </a:rPr>
              <a:t>成为真正的</a:t>
            </a:r>
            <a:r>
              <a:rPr lang="en-US" altLang="zh-CN" sz="1500" dirty="0">
                <a:solidFill>
                  <a:srgbClr val="5D7268"/>
                </a:solidFill>
                <a:latin typeface="Noto Serif SC"/>
                <a:ea typeface="Noto Serif SC"/>
              </a:rPr>
              <a:t>AI</a:t>
            </a:r>
            <a:r>
              <a:rPr lang="zh-CN" altLang="en-US" sz="1500" dirty="0">
                <a:solidFill>
                  <a:srgbClr val="5D7268"/>
                </a:solidFill>
                <a:latin typeface="Noto Serif SC"/>
                <a:ea typeface="Noto Serif SC"/>
              </a:rPr>
              <a:t>电磁设计师</a:t>
            </a:r>
            <a:r>
              <a:rPr sz="1500" b="0" dirty="0">
                <a:solidFill>
                  <a:srgbClr val="5D7268"/>
                </a:solidFill>
                <a:latin typeface="Noto Serif SC"/>
                <a:ea typeface="Noto Serif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7424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A59F94"/>
                </a:solidFill>
                <a:latin typeface="Noto Sans SC"/>
                <a:ea typeface="Noto Sans SC"/>
              </a:rPr>
              <a:t>界面上的每一个动作它都会做；界面之外的，它自己写。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08990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spc="120" dirty="0">
                <a:solidFill>
                  <a:srgbClr val="A59F94"/>
                </a:solidFill>
                <a:latin typeface="Noto Sans SC"/>
                <a:ea typeface="Noto Sans SC"/>
              </a:rPr>
              <a:t>HFSS · AI </a:t>
            </a:r>
            <a:r>
              <a:rPr sz="900" b="0" spc="120" dirty="0" err="1">
                <a:solidFill>
                  <a:srgbClr val="A59F94"/>
                </a:solidFill>
                <a:latin typeface="Noto Sans SC"/>
                <a:ea typeface="Noto Sans SC"/>
              </a:rPr>
              <a:t>设计台</a:t>
            </a:r>
            <a:r>
              <a:rPr sz="900" b="0" spc="120" dirty="0">
                <a:solidFill>
                  <a:srgbClr val="A59F94"/>
                </a:solidFill>
                <a:latin typeface="Noto Sans SC"/>
                <a:ea typeface="Noto Sans SC"/>
              </a:rPr>
              <a:t> ／ 2026</a:t>
            </a:r>
          </a:p>
        </p:txBody>
      </p:sp>
      <p:sp>
        <p:nvSpPr>
          <p:cNvPr id="11" name="credit"/>
          <p:cNvSpPr txBox="1"/>
          <p:nvPr/>
        </p:nvSpPr>
        <p:spPr>
          <a:xfrm>
            <a:off x="6656832" y="5998464"/>
            <a:ext cx="4572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spc="120">
                <a:solidFill>
                  <a:srgbClr val="A59F94"/>
                </a:solidFill>
                <a:latin typeface="Noto Sans SC"/>
                <a:ea typeface="Noto Sans SC"/>
              </a:rPr>
              <a:t>Design By  WoodyBuendia</a:t>
            </a:r>
          </a:p>
          <a:p>
            <a:pPr algn="r"/>
            <a:r>
              <a:rPr sz="850" spc="60">
                <a:solidFill>
                  <a:srgbClr val="A59F94"/>
                </a:solidFill>
                <a:latin typeface="Noto Sans SC"/>
                <a:ea typeface="Noto Sans SC"/>
              </a:rPr>
              <a:t>woodybuendia@gmail.com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1500</Words>
  <Application>Microsoft Office PowerPoint</Application>
  <PresentationFormat>宽屏</PresentationFormat>
  <Paragraphs>258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Noto Sans SC</vt:lpstr>
      <vt:lpstr>Noto Serif SC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Buendia Woody</cp:lastModifiedBy>
  <cp:revision>13</cp:revision>
  <dcterms:created xsi:type="dcterms:W3CDTF">2013-01-27T09:14:16Z</dcterms:created>
  <dcterms:modified xsi:type="dcterms:W3CDTF">2026-10-30T01:56:37Z</dcterms:modified>
  <cp:category/>
</cp:coreProperties>
</file>